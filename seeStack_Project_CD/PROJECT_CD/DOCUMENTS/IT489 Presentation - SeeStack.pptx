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9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8" r:id="rId20"/>
    <p:sldId id="279" r:id="rId21"/>
    <p:sldId id="280" r:id="rId22"/>
    <p:sldId id="281" r:id="rId23"/>
    <p:sldId id="282" r:id="rId24"/>
    <p:sldId id="283" r:id="rId25"/>
    <p:sldId id="284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58"/>
  </p:normalViewPr>
  <p:slideViewPr>
    <p:cSldViewPr>
      <p:cViewPr varScale="1">
        <p:scale>
          <a:sx n="150" d="100"/>
          <a:sy n="150" d="100"/>
        </p:scale>
        <p:origin x="624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4F2C7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4F2C7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4F2C7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4F2C7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2467" y="349885"/>
            <a:ext cx="7008812" cy="9794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4F2C7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5495290" cy="1552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65792-B598-6E04-2B78-C17EC87E1FE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868426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A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Restricted - مقيد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9075"/>
              <a:ext cx="12191999" cy="66389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7275" y="647700"/>
              <a:ext cx="2981325" cy="1628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72225" y="5934075"/>
              <a:ext cx="5419725" cy="4857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52900" y="2295525"/>
              <a:ext cx="3886200" cy="22669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387" y="2211006"/>
            <a:ext cx="6332220" cy="1986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College</a:t>
            </a:r>
            <a:r>
              <a:rPr sz="3200" b="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b="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Computing</a:t>
            </a:r>
            <a:r>
              <a:rPr sz="3200" b="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b="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Informatics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sz="3200" b="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r>
              <a:rPr sz="3200" b="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Program IT489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ts val="3829"/>
              </a:lnSpc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Senior</a:t>
            </a:r>
            <a:r>
              <a:rPr sz="3200" b="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Project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25" dirty="0">
                <a:solidFill>
                  <a:srgbClr val="FFFFFF"/>
                </a:solidFill>
                <a:latin typeface="Times New Roman"/>
                <a:cs typeface="Times New Roman"/>
              </a:rPr>
              <a:t>II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5050" y="5810249"/>
            <a:ext cx="607695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1028" y="976693"/>
            <a:ext cx="237871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0" spc="-10" dirty="0">
                <a:solidFill>
                  <a:srgbClr val="FFFFFF"/>
                </a:solidFill>
                <a:latin typeface="Calibri"/>
                <a:cs typeface="Calibri"/>
              </a:rPr>
              <a:t>Students: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8229" y="2216530"/>
            <a:ext cx="2086610" cy="198691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115"/>
              </a:spcBef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S220017052   S220003861   S220006504   S210054825   S190173769   S220011106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03900" y="2216530"/>
            <a:ext cx="4830699" cy="2969403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7305" marR="5080" indent="-15240">
              <a:lnSpc>
                <a:spcPct val="100400"/>
              </a:lnSpc>
              <a:spcBef>
                <a:spcPts val="115"/>
              </a:spcBef>
            </a:pP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ABDULAZIZ ALOTAIBI   FAISAL ALGHANIM   OMAR ALALLAF   MOHAMMED BIN EID   SALEM OMRAN   MOHAMMED TALEB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14646" y="5144770"/>
            <a:ext cx="2414270" cy="8312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Supervised</a:t>
            </a:r>
            <a:r>
              <a:rPr sz="32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Khalid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S.</a:t>
            </a:r>
            <a:r>
              <a:rPr sz="20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Alwasel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5050" y="5810249"/>
            <a:ext cx="607695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34726" y="14350"/>
            <a:ext cx="1533525" cy="552450"/>
          </a:xfrm>
          <a:custGeom>
            <a:avLst/>
            <a:gdLst/>
            <a:ahLst/>
            <a:cxnLst/>
            <a:rect l="l" t="t" r="r" b="b"/>
            <a:pathLst>
              <a:path w="1533525" h="552450">
                <a:moveTo>
                  <a:pt x="1533525" y="552450"/>
                </a:moveTo>
                <a:lnTo>
                  <a:pt x="1488493" y="529216"/>
                </a:lnTo>
                <a:lnTo>
                  <a:pt x="1443068" y="506447"/>
                </a:lnTo>
                <a:lnTo>
                  <a:pt x="1397268" y="484132"/>
                </a:lnTo>
                <a:lnTo>
                  <a:pt x="1351116" y="462266"/>
                </a:lnTo>
                <a:lnTo>
                  <a:pt x="1304632" y="440839"/>
                </a:lnTo>
                <a:lnTo>
                  <a:pt x="1257837" y="419844"/>
                </a:lnTo>
                <a:lnTo>
                  <a:pt x="1210751" y="399273"/>
                </a:lnTo>
                <a:lnTo>
                  <a:pt x="1163395" y="379118"/>
                </a:lnTo>
                <a:lnTo>
                  <a:pt x="1115790" y="359372"/>
                </a:lnTo>
                <a:lnTo>
                  <a:pt x="1067958" y="340027"/>
                </a:lnTo>
                <a:lnTo>
                  <a:pt x="1019918" y="321075"/>
                </a:lnTo>
                <a:lnTo>
                  <a:pt x="971691" y="302508"/>
                </a:lnTo>
                <a:lnTo>
                  <a:pt x="923299" y="284318"/>
                </a:lnTo>
                <a:lnTo>
                  <a:pt x="874761" y="266497"/>
                </a:lnTo>
                <a:lnTo>
                  <a:pt x="826100" y="249038"/>
                </a:lnTo>
                <a:lnTo>
                  <a:pt x="777335" y="231933"/>
                </a:lnTo>
                <a:lnTo>
                  <a:pt x="728487" y="215174"/>
                </a:lnTo>
                <a:lnTo>
                  <a:pt x="679578" y="198754"/>
                </a:lnTo>
                <a:lnTo>
                  <a:pt x="630628" y="182663"/>
                </a:lnTo>
                <a:lnTo>
                  <a:pt x="581657" y="166895"/>
                </a:lnTo>
                <a:lnTo>
                  <a:pt x="532687" y="151442"/>
                </a:lnTo>
                <a:lnTo>
                  <a:pt x="483738" y="136296"/>
                </a:lnTo>
                <a:lnTo>
                  <a:pt x="434832" y="121449"/>
                </a:lnTo>
                <a:lnTo>
                  <a:pt x="385988" y="106894"/>
                </a:lnTo>
                <a:lnTo>
                  <a:pt x="337228" y="92622"/>
                </a:lnTo>
                <a:lnTo>
                  <a:pt x="288573" y="78625"/>
                </a:lnTo>
                <a:lnTo>
                  <a:pt x="240043" y="64897"/>
                </a:lnTo>
                <a:lnTo>
                  <a:pt x="191659" y="51429"/>
                </a:lnTo>
                <a:lnTo>
                  <a:pt x="143442" y="38212"/>
                </a:lnTo>
                <a:lnTo>
                  <a:pt x="95412" y="25241"/>
                </a:lnTo>
                <a:lnTo>
                  <a:pt x="47591" y="12506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53726" y="5014976"/>
            <a:ext cx="1914525" cy="1838325"/>
          </a:xfrm>
          <a:custGeom>
            <a:avLst/>
            <a:gdLst/>
            <a:ahLst/>
            <a:cxnLst/>
            <a:rect l="l" t="t" r="r" b="b"/>
            <a:pathLst>
              <a:path w="1914525" h="1838325">
                <a:moveTo>
                  <a:pt x="0" y="1838261"/>
                </a:moveTo>
                <a:lnTo>
                  <a:pt x="39872" y="1807043"/>
                </a:lnTo>
                <a:lnTo>
                  <a:pt x="79669" y="1775645"/>
                </a:lnTo>
                <a:lnTo>
                  <a:pt x="119387" y="1744070"/>
                </a:lnTo>
                <a:lnTo>
                  <a:pt x="159024" y="1712317"/>
                </a:lnTo>
                <a:lnTo>
                  <a:pt x="198578" y="1680389"/>
                </a:lnTo>
                <a:lnTo>
                  <a:pt x="238044" y="1648285"/>
                </a:lnTo>
                <a:lnTo>
                  <a:pt x="277422" y="1616007"/>
                </a:lnTo>
                <a:lnTo>
                  <a:pt x="316708" y="1583557"/>
                </a:lnTo>
                <a:lnTo>
                  <a:pt x="355900" y="1550934"/>
                </a:lnTo>
                <a:lnTo>
                  <a:pt x="394995" y="1518141"/>
                </a:lnTo>
                <a:lnTo>
                  <a:pt x="433990" y="1485177"/>
                </a:lnTo>
                <a:lnTo>
                  <a:pt x="472883" y="1452045"/>
                </a:lnTo>
                <a:lnTo>
                  <a:pt x="511671" y="1418745"/>
                </a:lnTo>
                <a:lnTo>
                  <a:pt x="550351" y="1385278"/>
                </a:lnTo>
                <a:lnTo>
                  <a:pt x="588921" y="1351645"/>
                </a:lnTo>
                <a:lnTo>
                  <a:pt x="627379" y="1317847"/>
                </a:lnTo>
                <a:lnTo>
                  <a:pt x="665721" y="1283886"/>
                </a:lnTo>
                <a:lnTo>
                  <a:pt x="703945" y="1249762"/>
                </a:lnTo>
                <a:lnTo>
                  <a:pt x="742049" y="1215476"/>
                </a:lnTo>
                <a:lnTo>
                  <a:pt x="780029" y="1181029"/>
                </a:lnTo>
                <a:lnTo>
                  <a:pt x="817883" y="1146423"/>
                </a:lnTo>
                <a:lnTo>
                  <a:pt x="855609" y="1111658"/>
                </a:lnTo>
                <a:lnTo>
                  <a:pt x="893203" y="1076735"/>
                </a:lnTo>
                <a:lnTo>
                  <a:pt x="930664" y="1041656"/>
                </a:lnTo>
                <a:lnTo>
                  <a:pt x="967988" y="1006421"/>
                </a:lnTo>
                <a:lnTo>
                  <a:pt x="1005173" y="971032"/>
                </a:lnTo>
                <a:lnTo>
                  <a:pt x="1042216" y="935489"/>
                </a:lnTo>
                <a:lnTo>
                  <a:pt x="1079115" y="899794"/>
                </a:lnTo>
                <a:lnTo>
                  <a:pt x="1115867" y="863947"/>
                </a:lnTo>
                <a:lnTo>
                  <a:pt x="1152469" y="827949"/>
                </a:lnTo>
                <a:lnTo>
                  <a:pt x="1188919" y="791802"/>
                </a:lnTo>
                <a:lnTo>
                  <a:pt x="1225214" y="755507"/>
                </a:lnTo>
                <a:lnTo>
                  <a:pt x="1261351" y="719064"/>
                </a:lnTo>
                <a:lnTo>
                  <a:pt x="1297328" y="682475"/>
                </a:lnTo>
                <a:lnTo>
                  <a:pt x="1333143" y="645740"/>
                </a:lnTo>
                <a:lnTo>
                  <a:pt x="1368792" y="608861"/>
                </a:lnTo>
                <a:lnTo>
                  <a:pt x="1404273" y="571839"/>
                </a:lnTo>
                <a:lnTo>
                  <a:pt x="1439583" y="534674"/>
                </a:lnTo>
                <a:lnTo>
                  <a:pt x="1474720" y="497368"/>
                </a:lnTo>
                <a:lnTo>
                  <a:pt x="1509680" y="459922"/>
                </a:lnTo>
                <a:lnTo>
                  <a:pt x="1544463" y="422337"/>
                </a:lnTo>
                <a:lnTo>
                  <a:pt x="1579063" y="384613"/>
                </a:lnTo>
                <a:lnTo>
                  <a:pt x="1613481" y="346752"/>
                </a:lnTo>
                <a:lnTo>
                  <a:pt x="1647711" y="308755"/>
                </a:lnTo>
                <a:lnTo>
                  <a:pt x="1681752" y="270623"/>
                </a:lnTo>
                <a:lnTo>
                  <a:pt x="1715602" y="232357"/>
                </a:lnTo>
                <a:lnTo>
                  <a:pt x="1749257" y="193958"/>
                </a:lnTo>
                <a:lnTo>
                  <a:pt x="1782715" y="155426"/>
                </a:lnTo>
                <a:lnTo>
                  <a:pt x="1815974" y="116763"/>
                </a:lnTo>
                <a:lnTo>
                  <a:pt x="1849030" y="77971"/>
                </a:lnTo>
                <a:lnTo>
                  <a:pt x="1881881" y="39049"/>
                </a:lnTo>
                <a:lnTo>
                  <a:pt x="1914525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06226" y="14350"/>
            <a:ext cx="962025" cy="371475"/>
          </a:xfrm>
          <a:custGeom>
            <a:avLst/>
            <a:gdLst/>
            <a:ahLst/>
            <a:cxnLst/>
            <a:rect l="l" t="t" r="r" b="b"/>
            <a:pathLst>
              <a:path w="962025" h="371475">
                <a:moveTo>
                  <a:pt x="962025" y="371475"/>
                </a:moveTo>
                <a:lnTo>
                  <a:pt x="915636" y="349250"/>
                </a:lnTo>
                <a:lnTo>
                  <a:pt x="868918" y="327452"/>
                </a:lnTo>
                <a:lnTo>
                  <a:pt x="821896" y="306074"/>
                </a:lnTo>
                <a:lnTo>
                  <a:pt x="774594" y="285109"/>
                </a:lnTo>
                <a:lnTo>
                  <a:pt x="727037" y="264550"/>
                </a:lnTo>
                <a:lnTo>
                  <a:pt x="679250" y="244390"/>
                </a:lnTo>
                <a:lnTo>
                  <a:pt x="631257" y="224621"/>
                </a:lnTo>
                <a:lnTo>
                  <a:pt x="583085" y="205237"/>
                </a:lnTo>
                <a:lnTo>
                  <a:pt x="534757" y="186229"/>
                </a:lnTo>
                <a:lnTo>
                  <a:pt x="486298" y="167592"/>
                </a:lnTo>
                <a:lnTo>
                  <a:pt x="437734" y="149317"/>
                </a:lnTo>
                <a:lnTo>
                  <a:pt x="389089" y="131399"/>
                </a:lnTo>
                <a:lnTo>
                  <a:pt x="340388" y="113829"/>
                </a:lnTo>
                <a:lnTo>
                  <a:pt x="291655" y="96600"/>
                </a:lnTo>
                <a:lnTo>
                  <a:pt x="242917" y="79706"/>
                </a:lnTo>
                <a:lnTo>
                  <a:pt x="194197" y="63139"/>
                </a:lnTo>
                <a:lnTo>
                  <a:pt x="145520" y="46892"/>
                </a:lnTo>
                <a:lnTo>
                  <a:pt x="96912" y="30958"/>
                </a:lnTo>
                <a:lnTo>
                  <a:pt x="48397" y="15329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07291" y="5281676"/>
            <a:ext cx="1661160" cy="1576705"/>
          </a:xfrm>
          <a:custGeom>
            <a:avLst/>
            <a:gdLst/>
            <a:ahLst/>
            <a:cxnLst/>
            <a:rect l="l" t="t" r="r" b="b"/>
            <a:pathLst>
              <a:path w="1661159" h="1576704">
                <a:moveTo>
                  <a:pt x="0" y="1576324"/>
                </a:moveTo>
                <a:lnTo>
                  <a:pt x="33621" y="1549258"/>
                </a:lnTo>
                <a:lnTo>
                  <a:pt x="73085" y="1517276"/>
                </a:lnTo>
                <a:lnTo>
                  <a:pt x="112474" y="1485139"/>
                </a:lnTo>
                <a:lnTo>
                  <a:pt x="151783" y="1452848"/>
                </a:lnTo>
                <a:lnTo>
                  <a:pt x="191011" y="1420402"/>
                </a:lnTo>
                <a:lnTo>
                  <a:pt x="230155" y="1387803"/>
                </a:lnTo>
                <a:lnTo>
                  <a:pt x="269211" y="1355051"/>
                </a:lnTo>
                <a:lnTo>
                  <a:pt x="308177" y="1322146"/>
                </a:lnTo>
                <a:lnTo>
                  <a:pt x="347051" y="1289088"/>
                </a:lnTo>
                <a:lnTo>
                  <a:pt x="385829" y="1255878"/>
                </a:lnTo>
                <a:lnTo>
                  <a:pt x="424508" y="1222516"/>
                </a:lnTo>
                <a:lnTo>
                  <a:pt x="463086" y="1189002"/>
                </a:lnTo>
                <a:lnTo>
                  <a:pt x="501560" y="1155336"/>
                </a:lnTo>
                <a:lnTo>
                  <a:pt x="539927" y="1121520"/>
                </a:lnTo>
                <a:lnTo>
                  <a:pt x="578185" y="1087552"/>
                </a:lnTo>
                <a:lnTo>
                  <a:pt x="616329" y="1053434"/>
                </a:lnTo>
                <a:lnTo>
                  <a:pt x="654359" y="1019167"/>
                </a:lnTo>
                <a:lnTo>
                  <a:pt x="692270" y="984749"/>
                </a:lnTo>
                <a:lnTo>
                  <a:pt x="730061" y="950182"/>
                </a:lnTo>
                <a:lnTo>
                  <a:pt x="767728" y="915465"/>
                </a:lnTo>
                <a:lnTo>
                  <a:pt x="805268" y="880600"/>
                </a:lnTo>
                <a:lnTo>
                  <a:pt x="842679" y="845586"/>
                </a:lnTo>
                <a:lnTo>
                  <a:pt x="879957" y="810424"/>
                </a:lnTo>
                <a:lnTo>
                  <a:pt x="917101" y="775114"/>
                </a:lnTo>
                <a:lnTo>
                  <a:pt x="954107" y="739657"/>
                </a:lnTo>
                <a:lnTo>
                  <a:pt x="990972" y="704052"/>
                </a:lnTo>
                <a:lnTo>
                  <a:pt x="1027694" y="668300"/>
                </a:lnTo>
                <a:lnTo>
                  <a:pt x="1064269" y="632401"/>
                </a:lnTo>
                <a:lnTo>
                  <a:pt x="1100696" y="596357"/>
                </a:lnTo>
                <a:lnTo>
                  <a:pt x="1136970" y="560166"/>
                </a:lnTo>
                <a:lnTo>
                  <a:pt x="1173090" y="523829"/>
                </a:lnTo>
                <a:lnTo>
                  <a:pt x="1209053" y="487348"/>
                </a:lnTo>
                <a:lnTo>
                  <a:pt x="1244855" y="450721"/>
                </a:lnTo>
                <a:lnTo>
                  <a:pt x="1280494" y="413949"/>
                </a:lnTo>
                <a:lnTo>
                  <a:pt x="1315968" y="377033"/>
                </a:lnTo>
                <a:lnTo>
                  <a:pt x="1351272" y="339973"/>
                </a:lnTo>
                <a:lnTo>
                  <a:pt x="1386405" y="302769"/>
                </a:lnTo>
                <a:lnTo>
                  <a:pt x="1421364" y="265422"/>
                </a:lnTo>
                <a:lnTo>
                  <a:pt x="1456146" y="227931"/>
                </a:lnTo>
                <a:lnTo>
                  <a:pt x="1490747" y="190298"/>
                </a:lnTo>
                <a:lnTo>
                  <a:pt x="1525166" y="152522"/>
                </a:lnTo>
                <a:lnTo>
                  <a:pt x="1559400" y="114604"/>
                </a:lnTo>
                <a:lnTo>
                  <a:pt x="1593445" y="76544"/>
                </a:lnTo>
                <a:lnTo>
                  <a:pt x="1627299" y="38342"/>
                </a:lnTo>
                <a:lnTo>
                  <a:pt x="1660958" y="0"/>
                </a:lnTo>
              </a:path>
            </a:pathLst>
          </a:custGeom>
          <a:ln w="952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511026" y="14350"/>
            <a:ext cx="657225" cy="257175"/>
          </a:xfrm>
          <a:custGeom>
            <a:avLst/>
            <a:gdLst/>
            <a:ahLst/>
            <a:cxnLst/>
            <a:rect l="l" t="t" r="r" b="b"/>
            <a:pathLst>
              <a:path w="657225" h="257175">
                <a:moveTo>
                  <a:pt x="657225" y="257175"/>
                </a:moveTo>
                <a:lnTo>
                  <a:pt x="611800" y="236910"/>
                </a:lnTo>
                <a:lnTo>
                  <a:pt x="566101" y="216936"/>
                </a:lnTo>
                <a:lnTo>
                  <a:pt x="520139" y="197254"/>
                </a:lnTo>
                <a:lnTo>
                  <a:pt x="473922" y="177864"/>
                </a:lnTo>
                <a:lnTo>
                  <a:pt x="427462" y="158766"/>
                </a:lnTo>
                <a:lnTo>
                  <a:pt x="380768" y="139959"/>
                </a:lnTo>
                <a:lnTo>
                  <a:pt x="333851" y="121443"/>
                </a:lnTo>
                <a:lnTo>
                  <a:pt x="286719" y="103219"/>
                </a:lnTo>
                <a:lnTo>
                  <a:pt x="239384" y="85287"/>
                </a:lnTo>
                <a:lnTo>
                  <a:pt x="191855" y="67646"/>
                </a:lnTo>
                <a:lnTo>
                  <a:pt x="144142" y="50297"/>
                </a:lnTo>
                <a:lnTo>
                  <a:pt x="96255" y="33240"/>
                </a:lnTo>
                <a:lnTo>
                  <a:pt x="48204" y="16474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44251" y="5415026"/>
            <a:ext cx="1524000" cy="1438275"/>
          </a:xfrm>
          <a:custGeom>
            <a:avLst/>
            <a:gdLst/>
            <a:ahLst/>
            <a:cxnLst/>
            <a:rect l="l" t="t" r="r" b="b"/>
            <a:pathLst>
              <a:path w="1524000" h="1438275">
                <a:moveTo>
                  <a:pt x="0" y="1438211"/>
                </a:moveTo>
                <a:lnTo>
                  <a:pt x="39553" y="1406075"/>
                </a:lnTo>
                <a:lnTo>
                  <a:pt x="79020" y="1373786"/>
                </a:lnTo>
                <a:lnTo>
                  <a:pt x="118397" y="1341345"/>
                </a:lnTo>
                <a:lnTo>
                  <a:pt x="157683" y="1308753"/>
                </a:lnTo>
                <a:lnTo>
                  <a:pt x="196874" y="1276009"/>
                </a:lnTo>
                <a:lnTo>
                  <a:pt x="235969" y="1243114"/>
                </a:lnTo>
                <a:lnTo>
                  <a:pt x="274964" y="1210068"/>
                </a:lnTo>
                <a:lnTo>
                  <a:pt x="313858" y="1176873"/>
                </a:lnTo>
                <a:lnTo>
                  <a:pt x="352648" y="1143528"/>
                </a:lnTo>
                <a:lnTo>
                  <a:pt x="391330" y="1110034"/>
                </a:lnTo>
                <a:lnTo>
                  <a:pt x="429904" y="1076391"/>
                </a:lnTo>
                <a:lnTo>
                  <a:pt x="468366" y="1042600"/>
                </a:lnTo>
                <a:lnTo>
                  <a:pt x="506714" y="1008660"/>
                </a:lnTo>
                <a:lnTo>
                  <a:pt x="544945" y="974574"/>
                </a:lnTo>
                <a:lnTo>
                  <a:pt x="583057" y="940340"/>
                </a:lnTo>
                <a:lnTo>
                  <a:pt x="621047" y="905959"/>
                </a:lnTo>
                <a:lnTo>
                  <a:pt x="658913" y="871432"/>
                </a:lnTo>
                <a:lnTo>
                  <a:pt x="696653" y="836759"/>
                </a:lnTo>
                <a:lnTo>
                  <a:pt x="734263" y="801941"/>
                </a:lnTo>
                <a:lnTo>
                  <a:pt x="771742" y="766978"/>
                </a:lnTo>
                <a:lnTo>
                  <a:pt x="809087" y="731870"/>
                </a:lnTo>
                <a:lnTo>
                  <a:pt x="846295" y="696619"/>
                </a:lnTo>
                <a:lnTo>
                  <a:pt x="883365" y="661223"/>
                </a:lnTo>
                <a:lnTo>
                  <a:pt x="920292" y="625684"/>
                </a:lnTo>
                <a:lnTo>
                  <a:pt x="957076" y="590002"/>
                </a:lnTo>
                <a:lnTo>
                  <a:pt x="993713" y="554178"/>
                </a:lnTo>
                <a:lnTo>
                  <a:pt x="1030202" y="518211"/>
                </a:lnTo>
                <a:lnTo>
                  <a:pt x="1066538" y="482103"/>
                </a:lnTo>
                <a:lnTo>
                  <a:pt x="1102721" y="445854"/>
                </a:lnTo>
                <a:lnTo>
                  <a:pt x="1138747" y="409464"/>
                </a:lnTo>
                <a:lnTo>
                  <a:pt x="1174615" y="372933"/>
                </a:lnTo>
                <a:lnTo>
                  <a:pt x="1210321" y="336263"/>
                </a:lnTo>
                <a:lnTo>
                  <a:pt x="1245863" y="299453"/>
                </a:lnTo>
                <a:lnTo>
                  <a:pt x="1281238" y="262504"/>
                </a:lnTo>
                <a:lnTo>
                  <a:pt x="1316445" y="225416"/>
                </a:lnTo>
                <a:lnTo>
                  <a:pt x="1351481" y="188190"/>
                </a:lnTo>
                <a:lnTo>
                  <a:pt x="1386342" y="150826"/>
                </a:lnTo>
                <a:lnTo>
                  <a:pt x="1421027" y="113324"/>
                </a:lnTo>
                <a:lnTo>
                  <a:pt x="1455533" y="75686"/>
                </a:lnTo>
                <a:lnTo>
                  <a:pt x="1489858" y="37911"/>
                </a:lnTo>
                <a:lnTo>
                  <a:pt x="1524000" y="0"/>
                </a:lnTo>
              </a:path>
              <a:path w="1524000" h="1438275">
                <a:moveTo>
                  <a:pt x="161925" y="1438211"/>
                </a:moveTo>
                <a:lnTo>
                  <a:pt x="199724" y="1405690"/>
                </a:lnTo>
                <a:lnTo>
                  <a:pt x="237443" y="1373031"/>
                </a:lnTo>
                <a:lnTo>
                  <a:pt x="275079" y="1340232"/>
                </a:lnTo>
                <a:lnTo>
                  <a:pt x="312631" y="1307294"/>
                </a:lnTo>
                <a:lnTo>
                  <a:pt x="350095" y="1274218"/>
                </a:lnTo>
                <a:lnTo>
                  <a:pt x="387470" y="1241002"/>
                </a:lnTo>
                <a:lnTo>
                  <a:pt x="424754" y="1207648"/>
                </a:lnTo>
                <a:lnTo>
                  <a:pt x="461945" y="1174154"/>
                </a:lnTo>
                <a:lnTo>
                  <a:pt x="499041" y="1140522"/>
                </a:lnTo>
                <a:lnTo>
                  <a:pt x="536039" y="1106751"/>
                </a:lnTo>
                <a:lnTo>
                  <a:pt x="572938" y="1072840"/>
                </a:lnTo>
                <a:lnTo>
                  <a:pt x="609735" y="1038791"/>
                </a:lnTo>
                <a:lnTo>
                  <a:pt x="646429" y="1004603"/>
                </a:lnTo>
                <a:lnTo>
                  <a:pt x="683017" y="970276"/>
                </a:lnTo>
                <a:lnTo>
                  <a:pt x="719497" y="935810"/>
                </a:lnTo>
                <a:lnTo>
                  <a:pt x="755867" y="901205"/>
                </a:lnTo>
                <a:lnTo>
                  <a:pt x="792126" y="866462"/>
                </a:lnTo>
                <a:lnTo>
                  <a:pt x="828270" y="831579"/>
                </a:lnTo>
                <a:lnTo>
                  <a:pt x="864298" y="796558"/>
                </a:lnTo>
                <a:lnTo>
                  <a:pt x="900208" y="761398"/>
                </a:lnTo>
                <a:lnTo>
                  <a:pt x="935998" y="726098"/>
                </a:lnTo>
                <a:lnTo>
                  <a:pt x="971665" y="690660"/>
                </a:lnTo>
                <a:lnTo>
                  <a:pt x="1007208" y="655084"/>
                </a:lnTo>
                <a:lnTo>
                  <a:pt x="1042624" y="619368"/>
                </a:lnTo>
                <a:lnTo>
                  <a:pt x="1077912" y="583513"/>
                </a:lnTo>
                <a:lnTo>
                  <a:pt x="1113069" y="547520"/>
                </a:lnTo>
                <a:lnTo>
                  <a:pt x="1148093" y="511388"/>
                </a:lnTo>
                <a:lnTo>
                  <a:pt x="1182982" y="475117"/>
                </a:lnTo>
                <a:lnTo>
                  <a:pt x="1217735" y="438707"/>
                </a:lnTo>
                <a:lnTo>
                  <a:pt x="1252348" y="402159"/>
                </a:lnTo>
                <a:lnTo>
                  <a:pt x="1286820" y="365471"/>
                </a:lnTo>
                <a:lnTo>
                  <a:pt x="1321149" y="328645"/>
                </a:lnTo>
                <a:lnTo>
                  <a:pt x="1355333" y="291680"/>
                </a:lnTo>
                <a:lnTo>
                  <a:pt x="1389369" y="254577"/>
                </a:lnTo>
                <a:lnTo>
                  <a:pt x="1423256" y="217334"/>
                </a:lnTo>
                <a:lnTo>
                  <a:pt x="1456992" y="179953"/>
                </a:lnTo>
                <a:lnTo>
                  <a:pt x="1490573" y="142433"/>
                </a:lnTo>
                <a:lnTo>
                  <a:pt x="1524000" y="1047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" y="-1523"/>
            <a:ext cx="5172138" cy="686111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0987151" y="5700712"/>
            <a:ext cx="1181100" cy="1152525"/>
          </a:xfrm>
          <a:custGeom>
            <a:avLst/>
            <a:gdLst/>
            <a:ahLst/>
            <a:cxnLst/>
            <a:rect l="l" t="t" r="r" b="b"/>
            <a:pathLst>
              <a:path w="1181100" h="1152525">
                <a:moveTo>
                  <a:pt x="0" y="1152525"/>
                </a:moveTo>
                <a:lnTo>
                  <a:pt x="37736" y="1119554"/>
                </a:lnTo>
                <a:lnTo>
                  <a:pt x="75367" y="1086454"/>
                </a:lnTo>
                <a:lnTo>
                  <a:pt x="112891" y="1053224"/>
                </a:lnTo>
                <a:lnTo>
                  <a:pt x="150307" y="1019865"/>
                </a:lnTo>
                <a:lnTo>
                  <a:pt x="187613" y="986378"/>
                </a:lnTo>
                <a:lnTo>
                  <a:pt x="224808" y="952764"/>
                </a:lnTo>
                <a:lnTo>
                  <a:pt x="261889" y="919024"/>
                </a:lnTo>
                <a:lnTo>
                  <a:pt x="298856" y="885158"/>
                </a:lnTo>
                <a:lnTo>
                  <a:pt x="335707" y="851167"/>
                </a:lnTo>
                <a:lnTo>
                  <a:pt x="372439" y="817052"/>
                </a:lnTo>
                <a:lnTo>
                  <a:pt x="409052" y="782813"/>
                </a:lnTo>
                <a:lnTo>
                  <a:pt x="445545" y="748453"/>
                </a:lnTo>
                <a:lnTo>
                  <a:pt x="481914" y="713970"/>
                </a:lnTo>
                <a:lnTo>
                  <a:pt x="518159" y="679367"/>
                </a:lnTo>
                <a:lnTo>
                  <a:pt x="554279" y="644644"/>
                </a:lnTo>
                <a:lnTo>
                  <a:pt x="590271" y="609801"/>
                </a:lnTo>
                <a:lnTo>
                  <a:pt x="626134" y="574840"/>
                </a:lnTo>
                <a:lnTo>
                  <a:pt x="661866" y="539761"/>
                </a:lnTo>
                <a:lnTo>
                  <a:pt x="697466" y="504566"/>
                </a:lnTo>
                <a:lnTo>
                  <a:pt x="732933" y="469254"/>
                </a:lnTo>
                <a:lnTo>
                  <a:pt x="768264" y="433827"/>
                </a:lnTo>
                <a:lnTo>
                  <a:pt x="803458" y="398286"/>
                </a:lnTo>
                <a:lnTo>
                  <a:pt x="838514" y="362630"/>
                </a:lnTo>
                <a:lnTo>
                  <a:pt x="873429" y="326862"/>
                </a:lnTo>
                <a:lnTo>
                  <a:pt x="908203" y="290982"/>
                </a:lnTo>
                <a:lnTo>
                  <a:pt x="942833" y="254991"/>
                </a:lnTo>
                <a:lnTo>
                  <a:pt x="977319" y="218888"/>
                </a:lnTo>
                <a:lnTo>
                  <a:pt x="1011658" y="182677"/>
                </a:lnTo>
                <a:lnTo>
                  <a:pt x="1045849" y="146356"/>
                </a:lnTo>
                <a:lnTo>
                  <a:pt x="1079890" y="109927"/>
                </a:lnTo>
                <a:lnTo>
                  <a:pt x="1113780" y="73391"/>
                </a:lnTo>
                <a:lnTo>
                  <a:pt x="1147517" y="36748"/>
                </a:lnTo>
                <a:lnTo>
                  <a:pt x="1181100" y="0"/>
                </a:lnTo>
              </a:path>
              <a:path w="1181100" h="1152525">
                <a:moveTo>
                  <a:pt x="304800" y="1152525"/>
                </a:moveTo>
                <a:lnTo>
                  <a:pt x="343685" y="1119323"/>
                </a:lnTo>
                <a:lnTo>
                  <a:pt x="382516" y="1085961"/>
                </a:lnTo>
                <a:lnTo>
                  <a:pt x="421290" y="1052440"/>
                </a:lnTo>
                <a:lnTo>
                  <a:pt x="460005" y="1018763"/>
                </a:lnTo>
                <a:lnTo>
                  <a:pt x="498659" y="984933"/>
                </a:lnTo>
                <a:lnTo>
                  <a:pt x="537248" y="950952"/>
                </a:lnTo>
                <a:lnTo>
                  <a:pt x="575771" y="916821"/>
                </a:lnTo>
                <a:lnTo>
                  <a:pt x="614225" y="882545"/>
                </a:lnTo>
                <a:lnTo>
                  <a:pt x="652608" y="848124"/>
                </a:lnTo>
                <a:lnTo>
                  <a:pt x="690917" y="813561"/>
                </a:lnTo>
                <a:lnTo>
                  <a:pt x="729149" y="778859"/>
                </a:lnTo>
                <a:lnTo>
                  <a:pt x="767303" y="744020"/>
                </a:lnTo>
                <a:lnTo>
                  <a:pt x="805375" y="709046"/>
                </a:lnTo>
                <a:lnTo>
                  <a:pt x="843364" y="673940"/>
                </a:lnTo>
                <a:lnTo>
                  <a:pt x="881267" y="638705"/>
                </a:lnTo>
                <a:lnTo>
                  <a:pt x="919082" y="603341"/>
                </a:lnTo>
                <a:lnTo>
                  <a:pt x="956805" y="567852"/>
                </a:lnTo>
                <a:lnTo>
                  <a:pt x="994435" y="532241"/>
                </a:lnTo>
                <a:lnTo>
                  <a:pt x="1031969" y="496509"/>
                </a:lnTo>
                <a:lnTo>
                  <a:pt x="1069405" y="460659"/>
                </a:lnTo>
                <a:lnTo>
                  <a:pt x="1106741" y="424694"/>
                </a:lnTo>
                <a:lnTo>
                  <a:pt x="1143973" y="388614"/>
                </a:lnTo>
                <a:lnTo>
                  <a:pt x="1181100" y="3524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0100" y="1695450"/>
            <a:ext cx="3676650" cy="504825"/>
          </a:xfrm>
          <a:custGeom>
            <a:avLst/>
            <a:gdLst/>
            <a:ahLst/>
            <a:cxnLst/>
            <a:rect l="l" t="t" r="r" b="b"/>
            <a:pathLst>
              <a:path w="3676650" h="504825">
                <a:moveTo>
                  <a:pt x="3676650" y="0"/>
                </a:moveTo>
                <a:lnTo>
                  <a:pt x="0" y="0"/>
                </a:lnTo>
                <a:lnTo>
                  <a:pt x="0" y="504825"/>
                </a:lnTo>
                <a:lnTo>
                  <a:pt x="3676650" y="504825"/>
                </a:lnTo>
                <a:lnTo>
                  <a:pt x="367665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86025" y="4895850"/>
            <a:ext cx="314325" cy="276225"/>
          </a:xfrm>
          <a:custGeom>
            <a:avLst/>
            <a:gdLst/>
            <a:ahLst/>
            <a:cxnLst/>
            <a:rect l="l" t="t" r="r" b="b"/>
            <a:pathLst>
              <a:path w="314325" h="276225">
                <a:moveTo>
                  <a:pt x="314325" y="0"/>
                </a:moveTo>
                <a:lnTo>
                  <a:pt x="0" y="0"/>
                </a:lnTo>
                <a:lnTo>
                  <a:pt x="157225" y="276225"/>
                </a:lnTo>
                <a:lnTo>
                  <a:pt x="31432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9625" y="2276475"/>
            <a:ext cx="3667125" cy="2619375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4743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735"/>
              </a:spcBef>
            </a:pPr>
            <a:endParaRPr sz="3600">
              <a:latin typeface="Times New Roman"/>
              <a:cs typeface="Times New Roman"/>
            </a:endParaRPr>
          </a:p>
          <a:p>
            <a:pPr marL="1016635">
              <a:lnSpc>
                <a:spcPct val="100000"/>
              </a:lnSpc>
            </a:pPr>
            <a:r>
              <a:rPr sz="3600" spc="-10" dirty="0">
                <a:solidFill>
                  <a:srgbClr val="FFFFFD"/>
                </a:solidFill>
                <a:latin typeface="Times New Roman"/>
                <a:cs typeface="Times New Roman"/>
              </a:rPr>
              <a:t>Contents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14988" y="3667125"/>
            <a:ext cx="6276975" cy="2381250"/>
            <a:chOff x="5114988" y="3667125"/>
            <a:chExt cx="6276975" cy="2381250"/>
          </a:xfrm>
        </p:grpSpPr>
        <p:sp>
          <p:nvSpPr>
            <p:cNvPr id="14" name="object 14"/>
            <p:cNvSpPr/>
            <p:nvPr/>
          </p:nvSpPr>
          <p:spPr>
            <a:xfrm>
              <a:off x="5119751" y="3671887"/>
              <a:ext cx="6267450" cy="2371725"/>
            </a:xfrm>
            <a:custGeom>
              <a:avLst/>
              <a:gdLst/>
              <a:ahLst/>
              <a:cxnLst/>
              <a:rect l="l" t="t" r="r" b="b"/>
              <a:pathLst>
                <a:path w="6267450" h="2371725">
                  <a:moveTo>
                    <a:pt x="6267450" y="0"/>
                  </a:moveTo>
                  <a:lnTo>
                    <a:pt x="0" y="0"/>
                  </a:lnTo>
                  <a:lnTo>
                    <a:pt x="0" y="2371725"/>
                  </a:lnTo>
                  <a:lnTo>
                    <a:pt x="6267450" y="2371725"/>
                  </a:lnTo>
                  <a:lnTo>
                    <a:pt x="6267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19751" y="3671887"/>
              <a:ext cx="6267450" cy="2371725"/>
            </a:xfrm>
            <a:custGeom>
              <a:avLst/>
              <a:gdLst/>
              <a:ahLst/>
              <a:cxnLst/>
              <a:rect l="l" t="t" r="r" b="b"/>
              <a:pathLst>
                <a:path w="6267450" h="2371725">
                  <a:moveTo>
                    <a:pt x="0" y="2371725"/>
                  </a:moveTo>
                  <a:lnTo>
                    <a:pt x="6267450" y="2371725"/>
                  </a:lnTo>
                  <a:lnTo>
                    <a:pt x="6267450" y="0"/>
                  </a:lnTo>
                  <a:lnTo>
                    <a:pt x="0" y="0"/>
                  </a:lnTo>
                  <a:lnTo>
                    <a:pt x="0" y="2371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7325" y="4286250"/>
              <a:ext cx="5962650" cy="1162050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5201920" y="992187"/>
            <a:ext cx="35356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8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1.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	Introduction &amp;</a:t>
            </a:r>
            <a:r>
              <a:rPr sz="18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Problem</a:t>
            </a:r>
            <a:r>
              <a:rPr sz="18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Statement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01920" y="1268666"/>
            <a:ext cx="3549015" cy="195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Objectives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Scope</a:t>
            </a:r>
            <a:endParaRPr sz="1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AutoNum type="arabicPeriod" startAt="2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Literature Review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Methodology</a:t>
            </a:r>
            <a:endParaRPr sz="180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2130"/>
              </a:lnSpc>
              <a:spcBef>
                <a:spcPts val="15"/>
              </a:spcBef>
              <a:buAutoNum type="arabicPeriod" startAt="2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1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Architecture</a:t>
            </a:r>
            <a:endParaRPr sz="180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2130"/>
              </a:lnSpc>
              <a:buAutoNum type="arabicPeriod" startAt="2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Implementation &amp; Features in Detail</a:t>
            </a: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AutoNum type="arabicPeriod" startAt="2"/>
              <a:tabLst>
                <a:tab pos="355600" algn="l"/>
              </a:tabLst>
            </a:pPr>
            <a:r>
              <a:rPr sz="1800" spc="-20" dirty="0">
                <a:latin typeface="Times New Roman"/>
                <a:cs typeface="Times New Roman"/>
              </a:rPr>
              <a:t>Testing &amp; Results</a:t>
            </a:r>
            <a:endParaRPr sz="1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AutoNum type="arabicPeriod" startAt="2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Future Work</a:t>
            </a:r>
          </a:p>
          <a:p>
            <a:pPr marL="355600" indent="-342900">
              <a:lnSpc>
                <a:spcPct val="100000"/>
              </a:lnSpc>
              <a:spcBef>
                <a:spcPts val="15"/>
              </a:spcBef>
              <a:buAutoNum type="arabicPeriod" startAt="2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Conclusion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3544" y="1656333"/>
            <a:ext cx="8601075" cy="1475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marR="5080" indent="-514984">
              <a:lnSpc>
                <a:spcPct val="148600"/>
              </a:lnSpc>
              <a:spcBef>
                <a:spcPts val="95"/>
              </a:spcBef>
              <a:buClr>
                <a:srgbClr val="57BACF"/>
              </a:buClr>
              <a:buFont typeface="Arial MT"/>
              <a:buChar char="•"/>
              <a:tabLst>
                <a:tab pos="527050" algn="l"/>
              </a:tabLst>
            </a:pPr>
            <a:r>
              <a:rPr sz="3200" spc="-20" dirty="0">
                <a:solidFill>
                  <a:srgbClr val="57BACF"/>
                </a:solidFill>
                <a:latin typeface="Times New Roman"/>
                <a:cs typeface="Times New Roman"/>
              </a:rPr>
              <a:t>SeeStack: AI-Powered Error Detection and Monitoring System for Developers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9142" y="6034250"/>
            <a:ext cx="4974058" cy="45466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0" dirty="0">
                <a:latin typeface="Times New Roman"/>
                <a:cs typeface="Times New Roman"/>
              </a:rPr>
              <a:t>Project</a:t>
            </a:r>
            <a:r>
              <a:rPr b="0" spc="-170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Title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349885"/>
            <a:ext cx="577405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Background</a:t>
            </a:r>
            <a:r>
              <a:rPr sz="3950" spc="20" dirty="0"/>
              <a:t> </a:t>
            </a:r>
            <a:r>
              <a:rPr sz="3950" dirty="0"/>
              <a:t>&amp;</a:t>
            </a:r>
            <a:r>
              <a:rPr sz="3950" spc="50" dirty="0"/>
              <a:t> </a:t>
            </a:r>
            <a:r>
              <a:rPr sz="3950" spc="-10" dirty="0"/>
              <a:t>Motivation</a:t>
            </a:r>
            <a:endParaRPr sz="3950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308597"/>
            <a:ext cx="7612380" cy="20675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Modern distributed systems are complex and difficult to monitor.</a:t>
            </a: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Developers face fragmented monitoring tools and cryptic logs.</a:t>
            </a: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Failures cascade across services, prolonging outages.</a:t>
            </a: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AI-powered analysis can unify and accelerate diagnosis.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0332" y="1981200"/>
            <a:ext cx="2265684" cy="2076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8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5417185" cy="20675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Uncontextualized error messages and stack traces.</a:t>
            </a:r>
            <a:endParaRPr sz="27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Fragmented tooling: errors, performance, and security live in separate systems.</a:t>
            </a:r>
            <a:endParaRPr sz="27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Manual stress testing is slow and often skipped.</a:t>
            </a:r>
            <a:endParaRPr sz="27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Hidden security misconfigurations remain undetected.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7268" y="1695450"/>
            <a:ext cx="2771737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dirty="0"/>
              <a:t>Project</a:t>
            </a:r>
            <a:r>
              <a:rPr spc="-20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6454775" cy="20675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Build a real-time error and uptime monitoring pipeline.</a:t>
            </a:r>
            <a:endParaRPr sz="27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Integrate OpenAI for automated root-cause analysis and fix suggestions.</a:t>
            </a:r>
            <a:endParaRPr sz="27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Provide bounded stress testing and security scanning capabilities.</a:t>
            </a:r>
            <a:endParaRPr sz="27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Deliver a self-hostable, container-based platform with React dashboard.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0" y="1651713"/>
            <a:ext cx="2514600" cy="25734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dirty="0"/>
              <a:t>Existing</a:t>
            </a:r>
            <a:r>
              <a:rPr spc="-140" dirty="0"/>
              <a:t> </a:t>
            </a:r>
            <a:r>
              <a:rPr spc="-10" dirty="0"/>
              <a:t>Platforms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7915909" cy="20675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b="1" dirty="0">
                <a:latin typeface="Times New Roman"/>
                <a:cs typeface="Times New Roman"/>
              </a:rPr>
              <a:t>Sentry: application error tracking and grouping.</a:t>
            </a:r>
            <a:endParaRPr sz="275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b="1" dirty="0">
                <a:latin typeface="Times New Roman"/>
                <a:cs typeface="Times New Roman"/>
              </a:rPr>
              <a:t>Prometheus + Grafana: infrastructure metrics and dashboards.</a:t>
            </a:r>
            <a:endParaRPr sz="275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b="1" dirty="0">
                <a:latin typeface="Times New Roman"/>
                <a:cs typeface="Times New Roman"/>
              </a:rPr>
              <a:t>Datadog: unified observability SaaS platform.</a:t>
            </a:r>
            <a:endParaRPr sz="275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b="1" dirty="0">
                <a:latin typeface="Times New Roman"/>
                <a:cs typeface="Times New Roman"/>
              </a:rPr>
              <a:t>ELK Stack: centralized logging and search.</a:t>
            </a:r>
            <a:endParaRPr sz="275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1625" y="1818382"/>
            <a:ext cx="2181225" cy="20020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Gap</a:t>
            </a:r>
            <a:r>
              <a:rPr spc="-24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7312025" cy="155257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Tools are fragmented; teams switch contexts to correlate signals.</a:t>
            </a: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AI-driven remediation guidance is rare or absent in existing tools.</a:t>
            </a: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First-party stress testing is missing from most monitoring platforms.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93230" y="1955248"/>
            <a:ext cx="2501763" cy="2195028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915C1C88-1A75-7FFA-10A7-B9C20444E750}"/>
              </a:ext>
            </a:extLst>
          </p:cNvPr>
          <p:cNvSpPr txBox="1">
            <a:spLocks/>
          </p:cNvSpPr>
          <p:nvPr/>
        </p:nvSpPr>
        <p:spPr>
          <a:xfrm>
            <a:off x="717867" y="4162976"/>
            <a:ext cx="7008812" cy="979487"/>
          </a:xfrm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>
            <a:lvl1pPr>
              <a:defRPr sz="4400" b="1" i="0">
                <a:solidFill>
                  <a:srgbClr val="4F2C7D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237490">
              <a:spcBef>
                <a:spcPts val="130"/>
              </a:spcBef>
            </a:pPr>
            <a:r>
              <a:rPr lang="en-US" spc="-20" dirty="0"/>
              <a:t>SeeStack closes these gaps in one unified, self-hostable platform.</a:t>
            </a:r>
            <a:endParaRPr lang="en-US"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5288915" cy="155257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Waterfall SDLC with clear, sequential phases.</a:t>
            </a: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Spring Boot, Kafka (KRaft), Redis, ClickHouse, PostgreSQL.</a:t>
            </a: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React 19 dashboard, OpenAI GPT-4o-mini, Docker Compose.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33941" y="1756171"/>
            <a:ext cx="2629792" cy="25836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dirty="0"/>
              <a:t>Project</a:t>
            </a:r>
            <a:r>
              <a:rPr spc="-220" dirty="0"/>
              <a:t> </a:t>
            </a:r>
            <a:r>
              <a:rPr dirty="0"/>
              <a:t>Development</a:t>
            </a:r>
            <a:r>
              <a:rPr spc="-215" dirty="0"/>
              <a:t> </a:t>
            </a:r>
            <a:r>
              <a:rPr spc="-10" dirty="0"/>
              <a:t>Phases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7693025" cy="260071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527050" algn="l"/>
              </a:tabLst>
            </a:pPr>
            <a:r>
              <a:rPr sz="2750" dirty="0">
                <a:latin typeface="Times New Roman"/>
                <a:cs typeface="Times New Roman"/>
              </a:rPr>
              <a:t>Requirements &amp; Literature Review</a:t>
            </a:r>
          </a:p>
          <a:p>
            <a:pPr marL="527050" indent="-514350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527050" algn="l"/>
              </a:tabLst>
            </a:pPr>
            <a:r>
              <a:rPr sz="2750" spc="-10" dirty="0">
                <a:latin typeface="Times New Roman"/>
                <a:cs typeface="Times New Roman"/>
              </a:rPr>
              <a:t>Analysis &amp; System Design</a:t>
            </a:r>
            <a:endParaRPr sz="275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755"/>
              </a:spcBef>
              <a:buAutoNum type="arabicPeriod"/>
              <a:tabLst>
                <a:tab pos="527050" algn="l"/>
              </a:tabLst>
            </a:pPr>
            <a:r>
              <a:rPr sz="2750" spc="-10" dirty="0">
                <a:latin typeface="Times New Roman"/>
                <a:cs typeface="Times New Roman"/>
              </a:rPr>
              <a:t>Backend, Frontend &amp; SDK Implementation</a:t>
            </a:r>
            <a:endParaRPr sz="275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755"/>
              </a:spcBef>
              <a:buAutoNum type="arabicPeriod"/>
              <a:tabLst>
                <a:tab pos="527050" algn="l"/>
              </a:tabLst>
            </a:pPr>
            <a:r>
              <a:rPr sz="2750" spc="-10" dirty="0">
                <a:latin typeface="Times New Roman"/>
                <a:cs typeface="Times New Roman"/>
              </a:rPr>
              <a:t>Integration, Containerization &amp; Testing</a:t>
            </a:r>
            <a:endParaRPr sz="275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527050" algn="l"/>
              </a:tabLst>
            </a:pPr>
            <a:r>
              <a:rPr sz="2750" spc="-10" dirty="0">
                <a:latin typeface="Times New Roman"/>
                <a:cs typeface="Times New Roman"/>
              </a:rPr>
              <a:t>Documentation &amp; Submission</a:t>
            </a:r>
            <a:endParaRPr sz="275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5800" y="2324100"/>
            <a:ext cx="3067050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dirty="0"/>
              <a:t>Product</a:t>
            </a:r>
            <a:r>
              <a:rPr spc="-18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6668770" cy="335732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AI-assisted error analysis with structured remediation.</a:t>
            </a: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Runtime error monitoring with fingerprint-based grouping.</a:t>
            </a: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Website availability monitoring and bounded load testing.</a:t>
            </a: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>
                <a:latin typeface="Times New Roman"/>
                <a:cs typeface="Times New Roman"/>
              </a:rPr>
              <a:t>security </a:t>
            </a:r>
            <a:r>
              <a:rPr sz="2750" dirty="0">
                <a:latin typeface="Times New Roman"/>
                <a:cs typeface="Times New Roman"/>
              </a:rPr>
              <a:t>scanning (ports + HTTP headers).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2450" y="1970037"/>
            <a:ext cx="3200400" cy="25464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90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b="0" spc="-25" dirty="0">
                <a:latin typeface="Calibri Light"/>
                <a:cs typeface="Calibri Light"/>
              </a:rPr>
              <a:t>S</a:t>
            </a:r>
            <a:r>
              <a:rPr spc="-25" dirty="0"/>
              <a:t>ystem</a:t>
            </a:r>
            <a:r>
              <a:rPr spc="-24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6388100" cy="20675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b="1" dirty="0">
                <a:latin typeface="Times New Roman"/>
                <a:cs typeface="Times New Roman"/>
              </a:rPr>
              <a:t>SDKs (JavaScript / Java / Python) call the REST ingest API.</a:t>
            </a:r>
            <a:endParaRPr sz="27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b="1" dirty="0">
                <a:latin typeface="Times New Roman"/>
                <a:cs typeface="Times New Roman"/>
              </a:rPr>
              <a:t>Spring Boot backend with Apache Kafka event streaming.</a:t>
            </a:r>
            <a:endParaRPr sz="27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b="1" dirty="0">
                <a:latin typeface="Times New Roman"/>
                <a:cs typeface="Times New Roman"/>
              </a:rPr>
              <a:t>ClickHouse for telemetry and PostgreSQL for relational state.</a:t>
            </a:r>
            <a:endParaRPr sz="27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b="1" dirty="0">
                <a:latin typeface="Times New Roman"/>
                <a:cs typeface="Times New Roman"/>
              </a:rPr>
              <a:t>React 19 dashboard with OpenAI GPT-4o-mini integration.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7737" y="864806"/>
            <a:ext cx="26987" cy="1809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1212" y="740981"/>
            <a:ext cx="26987" cy="1809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56762" y="740981"/>
            <a:ext cx="26987" cy="1809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28246" y="712194"/>
            <a:ext cx="27146" cy="1799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89812" y="1731898"/>
            <a:ext cx="26987" cy="179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dirty="0"/>
              <a:t>Database</a:t>
            </a:r>
            <a:r>
              <a:rPr spc="-11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dirty="0"/>
              <a:t>Design</a:t>
            </a:r>
            <a:r>
              <a:rPr spc="-65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PostgreSQL: users, projects, API keys, monitors, error groups.</a:t>
            </a: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ClickHouse: raw error events and monitor checks with TTL.</a:t>
            </a: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ER, component, sequence, and deployment diagrams.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2502" y="1695450"/>
            <a:ext cx="2804145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dirty="0"/>
              <a:t>Security</a:t>
            </a:r>
            <a:r>
              <a:rPr spc="-90" dirty="0"/>
              <a:t> </a:t>
            </a:r>
            <a:r>
              <a:rPr dirty="0"/>
              <a:t>&amp;</a:t>
            </a:r>
            <a:r>
              <a:rPr spc="-50" dirty="0"/>
              <a:t> </a:t>
            </a:r>
            <a:r>
              <a:rPr spc="-10" dirty="0"/>
              <a:t>Privacy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5235575" cy="20675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HTTPS/TLS in transit; AES-256 encryption at rest.</a:t>
            </a:r>
            <a:endParaRPr sz="27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BCrypt passwords; HS256 JWTs; SHA-256 hashed API keys.</a:t>
            </a:r>
            <a:endParaRPr sz="27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One-time ingest-key reveal pattern with safe-prefix display.</a:t>
            </a:r>
            <a:endParaRPr sz="27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PII sanitization of tokens and secrets before LLM dispatch.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1525" y="1838325"/>
            <a:ext cx="2981325" cy="24860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dirty="0"/>
              <a:t>Implementation</a:t>
            </a:r>
            <a:r>
              <a:rPr spc="-22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5186045" cy="20675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Java 17 / Spring Boot 3.4.4 backend with seven feature modules.</a:t>
            </a:r>
            <a:endParaRPr sz="27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React 19 + Vite + TypeScript dashboard.</a:t>
            </a:r>
            <a:endParaRPr sz="27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Three zero-dependency SDKs for JavaScript, Java, and Python.</a:t>
            </a:r>
            <a:endParaRPr sz="27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Fumadocs + OpenAPI docs site; Docker Compose deployment.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7557" y="1775817"/>
            <a:ext cx="2666590" cy="24110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sz="3950" b="0" spc="-25" dirty="0">
                <a:latin typeface="Calibri Light"/>
                <a:cs typeface="Calibri Light"/>
              </a:rPr>
              <a:t>Error Ingestion Workflow</a:t>
            </a:r>
            <a:endParaRPr sz="395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5" y="609536"/>
            <a:ext cx="80962" cy="904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7475" y="761936"/>
            <a:ext cx="80962" cy="8096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62150" y="609536"/>
            <a:ext cx="90487" cy="90487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314450" y="600011"/>
            <a:ext cx="176530" cy="147955"/>
            <a:chOff x="1314450" y="600011"/>
            <a:chExt cx="176530" cy="14795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4450" y="600011"/>
              <a:ext cx="80962" cy="8096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9700" y="666686"/>
              <a:ext cx="80962" cy="80962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5230F54-76D0-CC03-BCE4-08C624F030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6050"/>
            <a:ext cx="1219200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dirty="0"/>
              <a:t>Security 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6668770" cy="20675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TCP probe of fixed ports: SSH, HTTP/S, MySQL, PostgreSQL, Redis.</a:t>
            </a:r>
            <a:endParaRPr sz="27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HTTP analyser checks for HSTS, CSP, X-Frame-Options, X-Content-Type.</a:t>
            </a:r>
            <a:endParaRPr sz="27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Additive risk scoring -&gt; LOW (&lt;30), MEDIUM (30-59), HIGH (&gt;=60).</a:t>
            </a:r>
            <a:endParaRPr sz="27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Educational scope: not a CVE-matching production scanner.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2450" y="1970037"/>
            <a:ext cx="3200400" cy="25464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Testing</a:t>
            </a:r>
            <a:r>
              <a:rPr spc="-135" dirty="0"/>
              <a:t> </a:t>
            </a:r>
            <a:r>
              <a:rPr dirty="0"/>
              <a:t>&amp;</a:t>
            </a:r>
            <a:r>
              <a:rPr spc="-105" dirty="0"/>
              <a:t> </a:t>
            </a:r>
            <a:r>
              <a:rPr spc="-10"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4699635" cy="283154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AI explanations rated useful in 9</a:t>
            </a:r>
            <a:r>
              <a:rPr lang="en-US" sz="2750" dirty="0">
                <a:latin typeface="Times New Roman"/>
                <a:cs typeface="Times New Roman"/>
              </a:rPr>
              <a:t>2</a:t>
            </a:r>
            <a:r>
              <a:rPr sz="2750" dirty="0">
                <a:latin typeface="Times New Roman"/>
                <a:cs typeface="Times New Roman"/>
              </a:rPr>
              <a:t>% of evaluated errors.</a:t>
            </a: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Average API response: under 200 </a:t>
            </a:r>
            <a:r>
              <a:rPr sz="2750" dirty="0" err="1">
                <a:latin typeface="Times New Roman"/>
                <a:cs typeface="Times New Roman"/>
              </a:rPr>
              <a:t>ms</a:t>
            </a:r>
            <a:r>
              <a:rPr lang="en-US" sz="2750" dirty="0" err="1">
                <a:latin typeface="Times New Roman"/>
                <a:cs typeface="Times New Roman"/>
              </a:rPr>
              <a:t>.</a:t>
            </a:r>
            <a:endParaRPr lang="en-US" sz="275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End-to-end ingestion verified from SDK to dashboard.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329" y="1695450"/>
            <a:ext cx="2445841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dirty="0"/>
              <a:t>Results</a:t>
            </a:r>
            <a:r>
              <a:rPr spc="-140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10" dirty="0"/>
              <a:t>Achievements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Working unified dashboard for errors, monitors, load tests, and security.</a:t>
            </a: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Self-hostable in under 30 seconds with a single command.</a:t>
            </a: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AI-powered error explanations with privacy-aware redaction.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6325" y="1695450"/>
            <a:ext cx="2400300" cy="26479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28332"/>
            <a:ext cx="316230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Future</a:t>
            </a:r>
            <a:r>
              <a:rPr spc="-254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5622925" cy="283154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Production-grade AI evaluation harness with regression dataset.</a:t>
            </a: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CVE-matching security scanning (Trivy / Snyk integration).</a:t>
            </a: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Continuous host-side performance monitoring agent.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957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7372350" cy="240835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All planned objectives met</a:t>
            </a:r>
            <a:endParaRPr lang="en-US" sz="275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750" dirty="0">
                <a:latin typeface="Times New Roman"/>
                <a:cs typeface="Times New Roman"/>
              </a:rPr>
              <a:t>AI-assisted error analysis is the project's primary novel contribution.</a:t>
            </a: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Times New Roman"/>
                <a:cs typeface="Times New Roman"/>
              </a:rPr>
              <a:t>Demonstrates a multi-capability, self-hosted observability platform.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9142" y="6063700"/>
            <a:ext cx="4974058" cy="4561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050" y="333375"/>
            <a:ext cx="1728845" cy="9620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9879" y="1281112"/>
            <a:ext cx="1885314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i="1" dirty="0">
                <a:latin typeface="Arial"/>
                <a:cs typeface="Arial"/>
              </a:rPr>
              <a:t>College</a:t>
            </a:r>
            <a:r>
              <a:rPr sz="800" b="1" i="1" spc="-30" dirty="0">
                <a:latin typeface="Arial"/>
                <a:cs typeface="Arial"/>
              </a:rPr>
              <a:t> </a:t>
            </a:r>
            <a:r>
              <a:rPr sz="800" b="1" i="1" dirty="0">
                <a:latin typeface="Arial"/>
                <a:cs typeface="Arial"/>
              </a:rPr>
              <a:t>of</a:t>
            </a:r>
            <a:r>
              <a:rPr sz="800" b="1" i="1" spc="5" dirty="0">
                <a:latin typeface="Arial"/>
                <a:cs typeface="Arial"/>
              </a:rPr>
              <a:t> </a:t>
            </a:r>
            <a:r>
              <a:rPr sz="800" b="1" i="1" dirty="0">
                <a:latin typeface="Arial"/>
                <a:cs typeface="Arial"/>
              </a:rPr>
              <a:t>Computing and </a:t>
            </a:r>
            <a:r>
              <a:rPr sz="800" b="1" i="1" spc="-10" dirty="0">
                <a:latin typeface="Arial"/>
                <a:cs typeface="Arial"/>
              </a:rPr>
              <a:t>Informatics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78376" y="2783458"/>
            <a:ext cx="3235198" cy="51384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2286" y="3129660"/>
            <a:ext cx="2145030" cy="609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8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Thank</a:t>
            </a:r>
            <a:r>
              <a:rPr sz="3800" b="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800" b="0" spc="-80" dirty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6475" y="5810249"/>
            <a:ext cx="6086475" cy="1047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713</Words>
  <Application>Microsoft Office PowerPoint</Application>
  <PresentationFormat>Widescreen</PresentationFormat>
  <Paragraphs>102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Arial MT</vt:lpstr>
      <vt:lpstr>Calibri</vt:lpstr>
      <vt:lpstr>Calibri Light</vt:lpstr>
      <vt:lpstr>Times New Roman</vt:lpstr>
      <vt:lpstr>Office Theme</vt:lpstr>
      <vt:lpstr>PowerPoint Presentation</vt:lpstr>
      <vt:lpstr>College of Computing and Informatics Information Technology Program IT489 Senior Project II</vt:lpstr>
      <vt:lpstr>Students:</vt:lpstr>
      <vt:lpstr>1. Introduction &amp; Problem Statement</vt:lpstr>
      <vt:lpstr>Project Title</vt:lpstr>
      <vt:lpstr>Background &amp; Motivation</vt:lpstr>
      <vt:lpstr>Problem Description</vt:lpstr>
      <vt:lpstr>Project Objectives</vt:lpstr>
      <vt:lpstr>Existing Platforms</vt:lpstr>
      <vt:lpstr>Gap Analysis</vt:lpstr>
      <vt:lpstr>Methodology</vt:lpstr>
      <vt:lpstr>Project Development Phases</vt:lpstr>
      <vt:lpstr>Product Features</vt:lpstr>
      <vt:lpstr>System Architecture</vt:lpstr>
      <vt:lpstr>Database &amp; Design Models</vt:lpstr>
      <vt:lpstr>Security &amp; Privacy</vt:lpstr>
      <vt:lpstr>Implementation Overview</vt:lpstr>
      <vt:lpstr>Error Ingestion Workflow</vt:lpstr>
      <vt:lpstr>Security Scanning</vt:lpstr>
      <vt:lpstr>Testing &amp; Evaluation</vt:lpstr>
      <vt:lpstr>Results &amp; Achievements</vt:lpstr>
      <vt:lpstr>Future Work</vt:lpstr>
      <vt:lpstr>Conclusion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فيصل الغانم</cp:lastModifiedBy>
  <cp:revision>5</cp:revision>
  <dcterms:created xsi:type="dcterms:W3CDTF">2025-12-03T00:29:31Z</dcterms:created>
  <dcterms:modified xsi:type="dcterms:W3CDTF">2026-05-10T19:22:01Z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LastSaved">
    <vt:filetime>2025-12-03T00:00:00Z</vt:filetime>
  </property>
  <property fmtid="{D5CDD505-2E9C-101B-9397-08002B2CF9AE}" pid="4" name="MSIP_Label_b437834d-a884-421a-b14d-4e9522201396_Enabled">
    <vt:lpwstr>true</vt:lpwstr>
  </property>
  <property fmtid="{D5CDD505-2E9C-101B-9397-08002B2CF9AE}" pid="5" name="MSIP_Label_b437834d-a884-421a-b14d-4e9522201396_SetDate">
    <vt:lpwstr>2026-05-09T13:41:39Z</vt:lpwstr>
  </property>
  <property fmtid="{D5CDD505-2E9C-101B-9397-08002B2CF9AE}" pid="6" name="MSIP_Label_b437834d-a884-421a-b14d-4e9522201396_Method">
    <vt:lpwstr>Standard</vt:lpwstr>
  </property>
  <property fmtid="{D5CDD505-2E9C-101B-9397-08002B2CF9AE}" pid="7" name="MSIP_Label_b437834d-a884-421a-b14d-4e9522201396_Name">
    <vt:lpwstr>Data classification -not allowed</vt:lpwstr>
  </property>
  <property fmtid="{D5CDD505-2E9C-101B-9397-08002B2CF9AE}" pid="8" name="MSIP_Label_b437834d-a884-421a-b14d-4e9522201396_SiteId">
    <vt:lpwstr>1f00763a-1f87-473b-bba1-b6c746af03e4</vt:lpwstr>
  </property>
  <property fmtid="{D5CDD505-2E9C-101B-9397-08002B2CF9AE}" pid="9" name="MSIP_Label_b437834d-a884-421a-b14d-4e9522201396_ActionId">
    <vt:lpwstr>ca5444b1-70c0-44d1-9ae2-327c796238f5</vt:lpwstr>
  </property>
  <property fmtid="{D5CDD505-2E9C-101B-9397-08002B2CF9AE}" pid="10" name="MSIP_Label_b437834d-a884-421a-b14d-4e9522201396_ContentBits">
    <vt:lpwstr>2</vt:lpwstr>
  </property>
  <property fmtid="{D5CDD505-2E9C-101B-9397-08002B2CF9AE}" pid="11" name="MSIP_Label_b437834d-a884-421a-b14d-4e9522201396_Tag">
    <vt:lpwstr>50, 3, 0, 1</vt:lpwstr>
  </property>
  <property fmtid="{D5CDD505-2E9C-101B-9397-08002B2CF9AE}" pid="12" name="ClassificationContentMarkingFooterLocations">
    <vt:lpwstr>Office Theme:8</vt:lpwstr>
  </property>
  <property fmtid="{D5CDD505-2E9C-101B-9397-08002B2CF9AE}" pid="13" name="ClassificationContentMarkingFooterText">
    <vt:lpwstr>Restricted - مقيد </vt:lpwstr>
  </property>
</Properties>
</file>